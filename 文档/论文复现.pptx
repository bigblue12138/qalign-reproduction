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65" r:id="rId5"/>
    <p:sldId id="257" r:id="rId6"/>
    <p:sldId id="258" r:id="rId7"/>
    <p:sldId id="259" r:id="rId8"/>
    <p:sldId id="262" r:id="rId9"/>
    <p:sldId id="260" r:id="rId10"/>
    <p:sldId id="261" r:id="rId11"/>
    <p:sldId id="263" r:id="rId12"/>
    <p:sldId id="267"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t="11223"/>
          <a:stretch>
            <a:fillRect/>
          </a:stretch>
        </p:blipFill>
        <p:spPr>
          <a:xfrm>
            <a:off x="638175" y="121285"/>
            <a:ext cx="10915650" cy="2511425"/>
          </a:xfrm>
          <a:prstGeom prst="rect">
            <a:avLst/>
          </a:prstGeom>
        </p:spPr>
      </p:pic>
      <p:sp>
        <p:nvSpPr>
          <p:cNvPr id="5" name="文本框 4"/>
          <p:cNvSpPr txBox="1"/>
          <p:nvPr/>
        </p:nvSpPr>
        <p:spPr>
          <a:xfrm>
            <a:off x="2207260" y="2632710"/>
            <a:ext cx="7777480" cy="398780"/>
          </a:xfrm>
          <a:prstGeom prst="rect">
            <a:avLst/>
          </a:prstGeom>
        </p:spPr>
        <p:txBody>
          <a:bodyPr wrap="square">
            <a:spAutoFit/>
          </a:bodyPr>
          <a:p>
            <a:pPr marL="0" indent="0"/>
            <a:r>
              <a:rPr lang="en-US" altLang="zh-CN" sz="2000" b="0" i="0">
                <a:solidFill>
                  <a:srgbClr val="1A1A1A"/>
                </a:solidFill>
                <a:latin typeface="黑体" panose="02010609060101010101" charset="-122"/>
                <a:ea typeface="黑体" panose="02010609060101010101" charset="-122"/>
                <a:cs typeface="黑体" panose="02010609060101010101" charset="-122"/>
              </a:rPr>
              <a:t>Q-ALIGN</a:t>
            </a:r>
            <a:r>
              <a:rPr lang="zh-CN" altLang="en-US" sz="2000" b="0" i="0">
                <a:solidFill>
                  <a:srgbClr val="1A1A1A"/>
                </a:solidFill>
                <a:latin typeface="黑体" panose="02010609060101010101" charset="-122"/>
                <a:ea typeface="黑体" panose="02010609060101010101" charset="-122"/>
                <a:cs typeface="黑体" panose="02010609060101010101" charset="-122"/>
              </a:rPr>
              <a:t>：通过离散文本定义等级教授大型多模态模型进行视觉评分</a:t>
            </a:r>
            <a:endParaRPr lang="zh-CN" altLang="en-US" sz="2000" b="0" i="0">
              <a:solidFill>
                <a:srgbClr val="1A1A1A"/>
              </a:solidFill>
              <a:latin typeface="黑体" panose="02010609060101010101" charset="-122"/>
              <a:ea typeface="黑体" panose="02010609060101010101" charset="-122"/>
              <a:cs typeface="黑体" panose="02010609060101010101" charset="-122"/>
            </a:endParaRPr>
          </a:p>
        </p:txBody>
      </p:sp>
      <p:sp>
        <p:nvSpPr>
          <p:cNvPr id="6" name="文本框 5"/>
          <p:cNvSpPr txBox="1"/>
          <p:nvPr/>
        </p:nvSpPr>
        <p:spPr>
          <a:xfrm>
            <a:off x="1498600" y="3913505"/>
            <a:ext cx="9194800" cy="1814830"/>
          </a:xfrm>
          <a:prstGeom prst="rect">
            <a:avLst/>
          </a:prstGeom>
        </p:spPr>
        <p:txBody>
          <a:bodyPr wrap="square">
            <a:spAutoFit/>
          </a:bodyPr>
          <a:p>
            <a:pPr indent="457200" fontAlgn="auto"/>
            <a:r>
              <a:rPr lang="zh-CN" altLang="en-US" sz="1600"/>
              <a:t>文</a:t>
            </a:r>
            <a:r>
              <a:rPr lang="zh-CN" altLang="en-US" sz="1600"/>
              <a:t>中提出了一种改进大型多模态模型（</a:t>
            </a:r>
            <a:r>
              <a:rPr lang="en-US" altLang="zh-CN" sz="1600"/>
              <a:t>LMM</a:t>
            </a:r>
            <a:r>
              <a:rPr lang="zh-CN" altLang="en-US" sz="1600"/>
              <a:t>）在视觉评分任务（涵盖图像质量、美学及视频质量评价）中表现的方法论。该研究的核心创新在于将传统的连续分值回归任务转化为基于离散文本等级（即“优秀”至“极差”五个等级）的模拟推理任务，旨在效仿人类在主观评估中依赖定性词汇而非精确数字的认知逻辑。</a:t>
            </a:r>
            <a:endParaRPr lang="zh-CN" altLang="en-US" sz="1600"/>
          </a:p>
          <a:p>
            <a:pPr indent="457200" fontAlgn="auto"/>
            <a:r>
              <a:rPr lang="zh-CN" altLang="en-US" sz="1600"/>
              <a:t>通过分析模型生成各等级词汇的概率分布，</a:t>
            </a:r>
            <a:r>
              <a:rPr lang="en-US" altLang="zh-CN" sz="1600"/>
              <a:t>Q-ALIGN </a:t>
            </a:r>
            <a:r>
              <a:rPr lang="zh-CN" altLang="en-US" sz="1600"/>
              <a:t>能够实现从文本描述到定量分数的转化，论文通过整合多项评价任务构建了统一模型 </a:t>
            </a:r>
            <a:r>
              <a:rPr lang="en-US" altLang="zh-CN" sz="1600"/>
              <a:t>ONEALIGN</a:t>
            </a:r>
            <a:r>
              <a:rPr lang="zh-CN" altLang="en-US" sz="1600"/>
              <a:t>，在多项基准测试中达到最佳（</a:t>
            </a:r>
            <a:r>
              <a:rPr lang="en-US" altLang="zh-CN" sz="1600"/>
              <a:t>SOTA</a:t>
            </a:r>
            <a:r>
              <a:rPr lang="zh-CN" altLang="en-US" sz="1600"/>
              <a:t>）性能，验证了利用离散文本等级来对齐人类主观感知在视觉质量评价领域的有效性。</a:t>
            </a:r>
            <a:endParaRPr lang="zh-CN" altLang="en-US" sz="1600"/>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39700" y="178435"/>
            <a:ext cx="2540635" cy="460375"/>
          </a:xfrm>
          <a:prstGeom prst="rect">
            <a:avLst/>
          </a:prstGeom>
        </p:spPr>
        <p:txBody>
          <a:bodyPr wrap="square">
            <a:spAutoFit/>
          </a:bodyPr>
          <a:p>
            <a:r>
              <a:rPr lang="en-US" altLang="zh-CN" sz="2400" b="1">
                <a:latin typeface="黑体" panose="02010609060101010101" charset="-122"/>
                <a:ea typeface="黑体" panose="02010609060101010101" charset="-122"/>
                <a:cs typeface="黑体" panose="02010609060101010101" charset="-122"/>
              </a:rPr>
              <a:t> </a:t>
            </a:r>
            <a:r>
              <a:rPr lang="zh-CN" altLang="en-US" sz="2400" b="1">
                <a:latin typeface="黑体" panose="02010609060101010101" charset="-122"/>
                <a:ea typeface="黑体" panose="02010609060101010101" charset="-122"/>
                <a:cs typeface="黑体" panose="02010609060101010101" charset="-122"/>
              </a:rPr>
              <a:t>论文动机与背景</a:t>
            </a:r>
            <a:endParaRPr lang="zh-CN" altLang="en-US" sz="2400" b="1">
              <a:latin typeface="黑体" panose="02010609060101010101" charset="-122"/>
              <a:ea typeface="黑体" panose="02010609060101010101" charset="-122"/>
              <a:cs typeface="黑体" panose="02010609060101010101" charset="-122"/>
            </a:endParaRPr>
          </a:p>
        </p:txBody>
      </p:sp>
      <p:sp>
        <p:nvSpPr>
          <p:cNvPr id="7" name="文本框 6"/>
          <p:cNvSpPr txBox="1"/>
          <p:nvPr/>
        </p:nvSpPr>
        <p:spPr>
          <a:xfrm>
            <a:off x="405130" y="1581785"/>
            <a:ext cx="11251565" cy="829945"/>
          </a:xfrm>
          <a:prstGeom prst="rect">
            <a:avLst/>
          </a:prstGeom>
        </p:spPr>
        <p:txBody>
          <a:bodyPr wrap="square">
            <a:spAutoFit/>
          </a:bodyPr>
          <a:p>
            <a:r>
              <a:rPr lang="zh-CN" altLang="en-US" sz="1600" b="1"/>
              <a:t>要解决的问题</a:t>
            </a:r>
            <a:r>
              <a:rPr lang="zh-CN" altLang="en-US" sz="1600"/>
              <a:t>：</a:t>
            </a:r>
            <a:endParaRPr lang="zh-CN" altLang="en-US" sz="1600"/>
          </a:p>
          <a:p>
            <a:r>
              <a:rPr lang="zh-CN" altLang="en-US" sz="1600"/>
              <a:t>如何让多模态大语言模型（</a:t>
            </a:r>
            <a:r>
              <a:rPr lang="en-US" altLang="zh-CN" sz="1600"/>
              <a:t>LMMs</a:t>
            </a:r>
            <a:r>
              <a:rPr lang="zh-CN" altLang="en-US" sz="1600"/>
              <a:t>）在视觉评分任务（图像质量 </a:t>
            </a:r>
            <a:r>
              <a:rPr lang="en-US" altLang="zh-CN" sz="1600"/>
              <a:t>IQA</a:t>
            </a:r>
            <a:r>
              <a:rPr lang="zh-CN" altLang="en-US" sz="1600"/>
              <a:t>、美学评价 </a:t>
            </a:r>
            <a:r>
              <a:rPr lang="en-US" altLang="zh-CN" sz="1600"/>
              <a:t>IAA </a:t>
            </a:r>
            <a:r>
              <a:rPr lang="zh-CN" altLang="en-US" sz="1600"/>
              <a:t>和视频质量 </a:t>
            </a:r>
            <a:r>
              <a:rPr lang="en-US" altLang="zh-CN" sz="1600"/>
              <a:t>VQA</a:t>
            </a:r>
            <a:r>
              <a:rPr lang="zh-CN" altLang="en-US" sz="1600"/>
              <a:t>）上</a:t>
            </a:r>
            <a:r>
              <a:rPr lang="en-US" altLang="zh-CN" sz="1600"/>
              <a:t>,</a:t>
            </a:r>
            <a:r>
              <a:rPr lang="zh-CN" altLang="en-US" sz="1600"/>
              <a:t>给出与人类主观感知</a:t>
            </a:r>
            <a:r>
              <a:rPr lang="zh-CN" altLang="en-US" sz="1600"/>
              <a:t>更一致的评分 。</a:t>
            </a:r>
            <a:endParaRPr lang="zh-CN" altLang="en-US" sz="1600"/>
          </a:p>
        </p:txBody>
      </p:sp>
      <p:sp>
        <p:nvSpPr>
          <p:cNvPr id="8" name="文本框 7"/>
          <p:cNvSpPr txBox="1"/>
          <p:nvPr/>
        </p:nvSpPr>
        <p:spPr>
          <a:xfrm>
            <a:off x="405130" y="3042920"/>
            <a:ext cx="9462770" cy="986155"/>
          </a:xfrm>
          <a:prstGeom prst="rect">
            <a:avLst/>
          </a:prstGeom>
        </p:spPr>
        <p:txBody>
          <a:bodyPr wrap="square">
            <a:spAutoFit/>
          </a:bodyPr>
          <a:p>
            <a:pPr marL="0" indent="0">
              <a:lnSpc>
                <a:spcPts val="1680"/>
              </a:lnSpc>
              <a:spcBef>
                <a:spcPts val="900"/>
              </a:spcBef>
              <a:spcAft>
                <a:spcPts val="400"/>
              </a:spcAft>
            </a:pPr>
            <a:r>
              <a:rPr lang="zh-CN" altLang="en-US" sz="1600" b="1"/>
              <a:t>为什么需要解决</a:t>
            </a:r>
            <a:r>
              <a:rPr lang="en-US" altLang="zh-CN" sz="1600" b="0">
                <a:solidFill>
                  <a:srgbClr val="0F1115"/>
                </a:solidFill>
                <a:latin typeface="quote-cjk-patch"/>
                <a:ea typeface="quote-cjk-patch"/>
              </a:rPr>
              <a:t>: </a:t>
            </a:r>
            <a:endParaRPr lang="en-US" altLang="zh-CN" sz="1600" b="0">
              <a:solidFill>
                <a:srgbClr val="0F1115"/>
              </a:solidFill>
              <a:latin typeface="quote-cjk-patch"/>
              <a:ea typeface="quote-cjk-patch"/>
            </a:endParaRPr>
          </a:p>
          <a:p>
            <a:pPr marL="0" indent="0">
              <a:lnSpc>
                <a:spcPts val="1680"/>
              </a:lnSpc>
              <a:spcBef>
                <a:spcPts val="900"/>
              </a:spcBef>
              <a:spcAft>
                <a:spcPts val="400"/>
              </a:spcAft>
            </a:pPr>
            <a:r>
              <a:rPr lang="en-US" altLang="zh-CN" sz="1600" b="0" i="0"/>
              <a:t>1.</a:t>
            </a:r>
            <a:r>
              <a:rPr lang="zh-CN" altLang="en-US" sz="1600" b="0" i="0"/>
              <a:t>提升视觉评分模型的泛化能力和跨任务统一性。</a:t>
            </a:r>
            <a:endParaRPr lang="zh-CN" altLang="en-US" sz="1600" b="0" i="0"/>
          </a:p>
          <a:p>
            <a:pPr marL="0" algn="l">
              <a:buClrTx/>
              <a:buSzTx/>
              <a:buFontTx/>
            </a:pPr>
            <a:r>
              <a:rPr lang="en-US" altLang="zh-CN" sz="1600" b="0" i="0"/>
              <a:t>2.</a:t>
            </a:r>
            <a:r>
              <a:rPr lang="zh-CN" altLang="en-US" sz="1600" b="0" i="0"/>
              <a:t>利用大型多模态模型（LMMs）的语义理解和推理能力，实现更符合人类直觉的评分。</a:t>
            </a:r>
            <a:endParaRPr lang="zh-CN" altLang="en-US" sz="1600" b="0" i="0"/>
          </a:p>
        </p:txBody>
      </p:sp>
      <p:sp>
        <p:nvSpPr>
          <p:cNvPr id="9" name="文本框 8"/>
          <p:cNvSpPr txBox="1"/>
          <p:nvPr/>
        </p:nvSpPr>
        <p:spPr>
          <a:xfrm>
            <a:off x="405130" y="4660265"/>
            <a:ext cx="11250930" cy="1076325"/>
          </a:xfrm>
          <a:prstGeom prst="rect">
            <a:avLst/>
          </a:prstGeom>
        </p:spPr>
        <p:txBody>
          <a:bodyPr wrap="square">
            <a:spAutoFit/>
          </a:bodyPr>
          <a:p>
            <a:r>
              <a:rPr lang="zh-CN" altLang="en-US" sz="1600" b="1"/>
              <a:t>前人研究及不足</a:t>
            </a:r>
            <a:r>
              <a:rPr lang="zh-CN" altLang="en-US" sz="1600"/>
              <a:t>：</a:t>
            </a:r>
            <a:endParaRPr lang="zh-CN" altLang="en-US" sz="1600"/>
          </a:p>
          <a:p>
            <a:pPr>
              <a:buFont typeface="Arial" panose="020B0604020202020204"/>
              <a:buChar char="•"/>
            </a:pPr>
            <a:r>
              <a:rPr lang="en-US" altLang="zh-CN" sz="1600"/>
              <a:t>  </a:t>
            </a:r>
            <a:r>
              <a:rPr lang="zh-CN" altLang="en-US" sz="1600"/>
              <a:t>早期方法多基于手工特征或深层神经网络直接对平均意见分数（</a:t>
            </a:r>
            <a:r>
              <a:rPr lang="en-US" altLang="zh-CN" sz="1600"/>
              <a:t>MOS</a:t>
            </a:r>
            <a:r>
              <a:rPr lang="zh-CN" altLang="en-US" sz="1600"/>
              <a:t>）进行回归。</a:t>
            </a:r>
            <a:endParaRPr lang="zh-CN" altLang="en-US" sz="1600"/>
          </a:p>
          <a:p>
            <a:pPr>
              <a:buFont typeface="Arial" panose="020B0604020202020204"/>
              <a:buChar char="•"/>
            </a:pPr>
            <a:r>
              <a:rPr lang="en-US" altLang="zh-CN" sz="1600" b="1"/>
              <a:t>  </a:t>
            </a:r>
            <a:r>
              <a:rPr lang="zh-CN" altLang="en-US" sz="1600"/>
              <a:t>现有模型通常难以处理复杂的评分场景，且直接预测精确的分数（如 </a:t>
            </a:r>
            <a:r>
              <a:rPr lang="en-US" altLang="zh-CN" sz="1600"/>
              <a:t>3.457</a:t>
            </a:r>
            <a:r>
              <a:rPr lang="zh-CN" altLang="en-US" sz="1600"/>
              <a:t>）对模型来说格式负担太重，不符合 </a:t>
            </a:r>
            <a:r>
              <a:rPr lang="en-US" altLang="zh-CN" sz="1600"/>
              <a:t>LMM </a:t>
            </a:r>
            <a:r>
              <a:rPr lang="zh-CN" altLang="en-US" sz="1600"/>
              <a:t>的内在输出模式 。</a:t>
            </a:r>
            <a:endParaRPr lang="zh-CN" altLang="en-US" sz="160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816610" y="1440180"/>
            <a:ext cx="7399655" cy="1938020"/>
          </a:xfrm>
          <a:prstGeom prst="rect">
            <a:avLst/>
          </a:prstGeom>
        </p:spPr>
        <p:txBody>
          <a:bodyPr wrap="square">
            <a:spAutoFit/>
          </a:bodyPr>
          <a:p>
            <a:pPr indent="0" fontAlgn="auto">
              <a:lnSpc>
                <a:spcPct val="150000"/>
              </a:lnSpc>
            </a:pPr>
            <a:r>
              <a:rPr lang="zh-CN" altLang="en-US" sz="1600" b="1"/>
              <a:t>作者的解决思路</a:t>
            </a:r>
            <a:r>
              <a:rPr lang="zh-CN" altLang="en-US" sz="1600"/>
              <a:t>：</a:t>
            </a:r>
            <a:endParaRPr lang="zh-CN" altLang="en-US" sz="1600"/>
          </a:p>
          <a:p>
            <a:pPr indent="0" fontAlgn="auto">
              <a:lnSpc>
                <a:spcPct val="150000"/>
              </a:lnSpc>
            </a:pPr>
            <a:r>
              <a:rPr lang="zh-CN" altLang="en-US" sz="1600"/>
              <a:t>受人类评分过程启发，人类在主观评价时通常只根据离散的文字等级（如“好”、“差”）进行判断，而不是直接给出分数 。因此，作者提出将分数转换为文字定义的等级（</a:t>
            </a:r>
            <a:r>
              <a:rPr lang="en-US" altLang="zh-CN" sz="1600"/>
              <a:t>Levels</a:t>
            </a:r>
            <a:r>
              <a:rPr lang="zh-CN" altLang="en-US" sz="1600"/>
              <a:t>）来教学 </a:t>
            </a:r>
            <a:r>
              <a:rPr lang="en-US" altLang="zh-CN" sz="1600"/>
              <a:t>LMM </a:t>
            </a:r>
            <a:r>
              <a:rPr lang="zh-CN" altLang="en-US" sz="1600"/>
              <a:t>，然后提取</a:t>
            </a:r>
            <a:r>
              <a:rPr lang="en-US" altLang="zh-CN" sz="1600"/>
              <a:t>LMM</a:t>
            </a:r>
            <a:r>
              <a:rPr lang="zh-CN" altLang="en-US" sz="1600"/>
              <a:t>对各级别的概率，加权平均得到分数。</a:t>
            </a:r>
            <a:endParaRPr lang="zh-CN" altLang="en-US" sz="1600"/>
          </a:p>
        </p:txBody>
      </p:sp>
      <p:sp>
        <p:nvSpPr>
          <p:cNvPr id="5" name="文本框 4"/>
          <p:cNvSpPr txBox="1"/>
          <p:nvPr/>
        </p:nvSpPr>
        <p:spPr>
          <a:xfrm>
            <a:off x="816610" y="3857625"/>
            <a:ext cx="7399655" cy="1198880"/>
          </a:xfrm>
          <a:prstGeom prst="rect">
            <a:avLst/>
          </a:prstGeom>
        </p:spPr>
        <p:txBody>
          <a:bodyPr wrap="square">
            <a:spAutoFit/>
          </a:bodyPr>
          <a:p>
            <a:pPr indent="0" fontAlgn="auto">
              <a:lnSpc>
                <a:spcPct val="150000"/>
              </a:lnSpc>
            </a:pPr>
            <a:r>
              <a:rPr lang="zh-CN" altLang="en-US" sz="1600" b="1"/>
              <a:t>为什么有效</a:t>
            </a:r>
            <a:r>
              <a:rPr lang="zh-CN" altLang="en-US" sz="1600"/>
              <a:t>：</a:t>
            </a:r>
            <a:endParaRPr lang="zh-CN" altLang="en-US" sz="1600"/>
          </a:p>
          <a:p>
            <a:pPr indent="0" fontAlgn="auto">
              <a:lnSpc>
                <a:spcPct val="150000"/>
              </a:lnSpc>
            </a:pPr>
            <a:r>
              <a:rPr lang="en-US" altLang="zh-CN" sz="1600"/>
              <a:t>LMM </a:t>
            </a:r>
            <a:r>
              <a:rPr lang="zh-CN" altLang="en-US" sz="1600"/>
              <a:t>擅长生成定性的形容词而非精确数字 。这种文本描述</a:t>
            </a:r>
            <a:r>
              <a:rPr lang="zh-CN" altLang="en-US" sz="1600"/>
              <a:t>训练降低了模型的认知负担，使其能更好地利用其语言和视觉理解能力 。</a:t>
            </a:r>
            <a:endParaRPr lang="zh-CN" altLang="en-US" sz="16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33680" y="692785"/>
            <a:ext cx="11724005" cy="5184775"/>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t="25657"/>
          <a:stretch>
            <a:fillRect/>
          </a:stretch>
        </p:blipFill>
        <p:spPr>
          <a:xfrm>
            <a:off x="671195" y="130810"/>
            <a:ext cx="10848975" cy="2945765"/>
          </a:xfrm>
          <a:prstGeom prst="rect">
            <a:avLst/>
          </a:prstGeom>
        </p:spPr>
      </p:pic>
      <p:pic>
        <p:nvPicPr>
          <p:cNvPr id="3" name="图片 2"/>
          <p:cNvPicPr>
            <a:picLocks noChangeAspect="1"/>
          </p:cNvPicPr>
          <p:nvPr/>
        </p:nvPicPr>
        <p:blipFill>
          <a:blip r:embed="rId2"/>
          <a:stretch>
            <a:fillRect/>
          </a:stretch>
        </p:blipFill>
        <p:spPr>
          <a:xfrm>
            <a:off x="671195" y="3327400"/>
            <a:ext cx="10801350" cy="314325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133090" y="320675"/>
            <a:ext cx="5925185" cy="460375"/>
          </a:xfrm>
          <a:prstGeom prst="rect">
            <a:avLst/>
          </a:prstGeom>
          <a:noFill/>
        </p:spPr>
        <p:txBody>
          <a:bodyPr wrap="square" rtlCol="0">
            <a:spAutoFit/>
          </a:bodyPr>
          <a:p>
            <a:pPr algn="ctr"/>
            <a:r>
              <a:rPr lang="en-US" altLang="zh-CN" sz="2400"/>
              <a:t>IAA</a:t>
            </a:r>
            <a:r>
              <a:rPr lang="zh-CN" altLang="en-US" sz="2400"/>
              <a:t>：</a:t>
            </a:r>
            <a:r>
              <a:rPr lang="en-US" altLang="zh-CN" sz="2400"/>
              <a:t>AVA</a:t>
            </a:r>
            <a:r>
              <a:rPr lang="zh-CN" altLang="en-US" sz="2400"/>
              <a:t>数据集抽样</a:t>
            </a:r>
            <a:r>
              <a:rPr lang="en-US" altLang="zh-CN" sz="2400"/>
              <a:t>2000</a:t>
            </a:r>
            <a:r>
              <a:rPr lang="zh-CN" altLang="en-US" sz="2400"/>
              <a:t>张测评</a:t>
            </a:r>
            <a:endParaRPr lang="zh-CN" altLang="en-US" sz="2400"/>
          </a:p>
        </p:txBody>
      </p:sp>
      <p:pic>
        <p:nvPicPr>
          <p:cNvPr id="5" name="图片 4"/>
          <p:cNvPicPr>
            <a:picLocks noChangeAspect="1"/>
          </p:cNvPicPr>
          <p:nvPr/>
        </p:nvPicPr>
        <p:blipFill>
          <a:blip r:embed="rId1"/>
          <a:stretch>
            <a:fillRect/>
          </a:stretch>
        </p:blipFill>
        <p:spPr>
          <a:xfrm>
            <a:off x="4063365" y="1172845"/>
            <a:ext cx="4065905" cy="833755"/>
          </a:xfrm>
          <a:prstGeom prst="rect">
            <a:avLst/>
          </a:prstGeom>
        </p:spPr>
      </p:pic>
      <p:pic>
        <p:nvPicPr>
          <p:cNvPr id="6" name="图片 5"/>
          <p:cNvPicPr>
            <a:picLocks noChangeAspect="1"/>
          </p:cNvPicPr>
          <p:nvPr/>
        </p:nvPicPr>
        <p:blipFill>
          <a:blip r:embed="rId2"/>
          <a:stretch>
            <a:fillRect/>
          </a:stretch>
        </p:blipFill>
        <p:spPr>
          <a:xfrm>
            <a:off x="2267585" y="2524760"/>
            <a:ext cx="7655560" cy="3727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439670" y="502920"/>
            <a:ext cx="7311390" cy="460375"/>
          </a:xfrm>
          <a:prstGeom prst="rect">
            <a:avLst/>
          </a:prstGeom>
          <a:noFill/>
        </p:spPr>
        <p:txBody>
          <a:bodyPr wrap="square" rtlCol="0" anchor="t">
            <a:spAutoFit/>
          </a:bodyPr>
          <a:p>
            <a:pPr algn="ctr"/>
            <a:r>
              <a:rPr lang="en-US" altLang="zh-CN" sz="2400">
                <a:sym typeface="+mn-ea"/>
              </a:rPr>
              <a:t>IAA</a:t>
            </a:r>
            <a:r>
              <a:rPr lang="zh-CN" altLang="en-US" sz="2400">
                <a:sym typeface="+mn-ea"/>
              </a:rPr>
              <a:t>二次测试：</a:t>
            </a:r>
            <a:r>
              <a:rPr lang="en-US" altLang="zh-CN" sz="2400">
                <a:sym typeface="+mn-ea"/>
              </a:rPr>
              <a:t>AVA</a:t>
            </a:r>
            <a:r>
              <a:rPr lang="zh-CN" altLang="en-US" sz="2400">
                <a:sym typeface="+mn-ea"/>
              </a:rPr>
              <a:t>数据集</a:t>
            </a:r>
            <a:r>
              <a:rPr lang="zh-CN" altLang="en-US" sz="2400">
                <a:sym typeface="+mn-ea"/>
              </a:rPr>
              <a:t>均匀抽样</a:t>
            </a:r>
            <a:r>
              <a:rPr lang="en-US" altLang="zh-CN" sz="2400">
                <a:sym typeface="+mn-ea"/>
              </a:rPr>
              <a:t>2000</a:t>
            </a:r>
            <a:r>
              <a:rPr lang="zh-CN" altLang="en-US" sz="2400">
                <a:sym typeface="+mn-ea"/>
              </a:rPr>
              <a:t>张测评</a:t>
            </a:r>
            <a:endParaRPr lang="zh-CN" altLang="en-US" sz="2400">
              <a:sym typeface="+mn-ea"/>
            </a:endParaRPr>
          </a:p>
        </p:txBody>
      </p:sp>
      <p:pic>
        <p:nvPicPr>
          <p:cNvPr id="6" name="图片 5"/>
          <p:cNvPicPr>
            <a:picLocks noChangeAspect="1"/>
          </p:cNvPicPr>
          <p:nvPr/>
        </p:nvPicPr>
        <p:blipFill>
          <a:blip r:embed="rId1"/>
          <a:stretch>
            <a:fillRect/>
          </a:stretch>
        </p:blipFill>
        <p:spPr>
          <a:xfrm>
            <a:off x="2267585" y="2524760"/>
            <a:ext cx="7655560" cy="3727450"/>
          </a:xfrm>
          <a:prstGeom prst="rect">
            <a:avLst/>
          </a:prstGeom>
        </p:spPr>
      </p:pic>
      <p:pic>
        <p:nvPicPr>
          <p:cNvPr id="5" name="图片 4"/>
          <p:cNvPicPr>
            <a:picLocks noChangeAspect="1"/>
          </p:cNvPicPr>
          <p:nvPr/>
        </p:nvPicPr>
        <p:blipFill>
          <a:blip r:embed="rId2"/>
          <a:stretch>
            <a:fillRect/>
          </a:stretch>
        </p:blipFill>
        <p:spPr>
          <a:xfrm>
            <a:off x="3533140" y="1365885"/>
            <a:ext cx="5125720" cy="756285"/>
          </a:xfrm>
          <a:prstGeom prst="rect">
            <a:avLst/>
          </a:prstGeom>
        </p:spPr>
      </p:pic>
      <p:sp>
        <p:nvSpPr>
          <p:cNvPr id="2" name="文本框 1"/>
          <p:cNvSpPr txBox="1"/>
          <p:nvPr/>
        </p:nvSpPr>
        <p:spPr>
          <a:xfrm>
            <a:off x="5478780" y="1031240"/>
            <a:ext cx="4064000" cy="368300"/>
          </a:xfrm>
          <a:prstGeom prst="rect">
            <a:avLst/>
          </a:prstGeom>
          <a:noFill/>
        </p:spPr>
        <p:txBody>
          <a:bodyPr wrap="square" rtlCol="0">
            <a:spAutoFit/>
          </a:bodyPr>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048000" y="887730"/>
            <a:ext cx="6096000" cy="460375"/>
          </a:xfrm>
          <a:prstGeom prst="rect">
            <a:avLst/>
          </a:prstGeom>
          <a:noFill/>
        </p:spPr>
        <p:txBody>
          <a:bodyPr wrap="square" rtlCol="0" anchor="t">
            <a:spAutoFit/>
          </a:bodyPr>
          <a:p>
            <a:pPr algn="ctr"/>
            <a:r>
              <a:rPr lang="en-US" altLang="zh-CN" sz="2400">
                <a:sym typeface="+mn-ea"/>
              </a:rPr>
              <a:t>IQA</a:t>
            </a:r>
            <a:r>
              <a:rPr lang="zh-CN" altLang="en-US" sz="2400">
                <a:sym typeface="+mn-ea"/>
              </a:rPr>
              <a:t>：</a:t>
            </a:r>
            <a:r>
              <a:rPr lang="en-US" altLang="zh-CN" sz="2400">
                <a:sym typeface="+mn-ea"/>
              </a:rPr>
              <a:t>KONIQtest</a:t>
            </a:r>
            <a:r>
              <a:rPr lang="zh-CN" altLang="en-US" sz="2400">
                <a:sym typeface="+mn-ea"/>
              </a:rPr>
              <a:t>数据集测评</a:t>
            </a:r>
            <a:endParaRPr lang="zh-CN" altLang="en-US" sz="2400">
              <a:sym typeface="+mn-ea"/>
            </a:endParaRPr>
          </a:p>
        </p:txBody>
      </p:sp>
      <p:pic>
        <p:nvPicPr>
          <p:cNvPr id="3" name="图片 2"/>
          <p:cNvPicPr>
            <a:picLocks noChangeAspect="1"/>
          </p:cNvPicPr>
          <p:nvPr/>
        </p:nvPicPr>
        <p:blipFill>
          <a:blip r:embed="rId1"/>
          <a:stretch>
            <a:fillRect/>
          </a:stretch>
        </p:blipFill>
        <p:spPr>
          <a:xfrm>
            <a:off x="2876550" y="3246120"/>
            <a:ext cx="6438900" cy="1924050"/>
          </a:xfrm>
          <a:prstGeom prst="rect">
            <a:avLst/>
          </a:prstGeom>
        </p:spPr>
      </p:pic>
      <p:pic>
        <p:nvPicPr>
          <p:cNvPr id="5" name="图片 4"/>
          <p:cNvPicPr>
            <a:picLocks noChangeAspect="1"/>
          </p:cNvPicPr>
          <p:nvPr/>
        </p:nvPicPr>
        <p:blipFill>
          <a:blip r:embed="rId2"/>
          <a:stretch>
            <a:fillRect/>
          </a:stretch>
        </p:blipFill>
        <p:spPr>
          <a:xfrm>
            <a:off x="2735580" y="1790065"/>
            <a:ext cx="6720840" cy="825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842260" y="578485"/>
            <a:ext cx="6096000" cy="460375"/>
          </a:xfrm>
          <a:prstGeom prst="rect">
            <a:avLst/>
          </a:prstGeom>
          <a:noFill/>
        </p:spPr>
        <p:txBody>
          <a:bodyPr wrap="square" rtlCol="0" anchor="t">
            <a:spAutoFit/>
          </a:bodyPr>
          <a:p>
            <a:pPr algn="ctr"/>
            <a:r>
              <a:rPr lang="en-US" altLang="zh-CN" sz="2400">
                <a:sym typeface="+mn-ea"/>
              </a:rPr>
              <a:t>VQA</a:t>
            </a:r>
            <a:r>
              <a:rPr lang="zh-CN" altLang="en-US" sz="2400">
                <a:sym typeface="+mn-ea"/>
              </a:rPr>
              <a:t>：</a:t>
            </a:r>
            <a:r>
              <a:rPr lang="en-US" altLang="zh-CN" sz="2400">
                <a:sym typeface="+mn-ea"/>
              </a:rPr>
              <a:t>Maxwell</a:t>
            </a:r>
            <a:r>
              <a:rPr lang="zh-CN" altLang="en-US" sz="2400">
                <a:sym typeface="+mn-ea"/>
              </a:rPr>
              <a:t>数据集测评</a:t>
            </a:r>
            <a:endParaRPr lang="zh-CN" altLang="en-US" sz="2400">
              <a:sym typeface="+mn-ea"/>
            </a:endParaRPr>
          </a:p>
        </p:txBody>
      </p:sp>
      <p:pic>
        <p:nvPicPr>
          <p:cNvPr id="5" name="图片 4"/>
          <p:cNvPicPr>
            <a:picLocks noChangeAspect="1"/>
          </p:cNvPicPr>
          <p:nvPr/>
        </p:nvPicPr>
        <p:blipFill>
          <a:blip r:embed="rId1"/>
          <a:stretch>
            <a:fillRect/>
          </a:stretch>
        </p:blipFill>
        <p:spPr>
          <a:xfrm>
            <a:off x="3925570" y="1598295"/>
            <a:ext cx="4340225" cy="904240"/>
          </a:xfrm>
          <a:prstGeom prst="rect">
            <a:avLst/>
          </a:prstGeom>
        </p:spPr>
      </p:pic>
      <p:pic>
        <p:nvPicPr>
          <p:cNvPr id="6" name="图片 5"/>
          <p:cNvPicPr>
            <a:picLocks noChangeAspect="1"/>
          </p:cNvPicPr>
          <p:nvPr/>
        </p:nvPicPr>
        <p:blipFill>
          <a:blip r:embed="rId2"/>
          <a:stretch>
            <a:fillRect/>
          </a:stretch>
        </p:blipFill>
        <p:spPr>
          <a:xfrm>
            <a:off x="233680" y="3001010"/>
            <a:ext cx="11725275" cy="3400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rcRect t="2878"/>
          <a:stretch>
            <a:fillRect/>
          </a:stretch>
        </p:blipFill>
        <p:spPr>
          <a:xfrm>
            <a:off x="2505075" y="3189605"/>
            <a:ext cx="7181850" cy="2493645"/>
          </a:xfrm>
          <a:prstGeom prst="rect">
            <a:avLst/>
          </a:prstGeom>
        </p:spPr>
      </p:pic>
      <p:sp>
        <p:nvSpPr>
          <p:cNvPr id="5" name="文本框 4"/>
          <p:cNvSpPr txBox="1"/>
          <p:nvPr/>
        </p:nvSpPr>
        <p:spPr>
          <a:xfrm>
            <a:off x="4513580" y="659130"/>
            <a:ext cx="3165475" cy="460375"/>
          </a:xfrm>
          <a:prstGeom prst="rect">
            <a:avLst/>
          </a:prstGeom>
          <a:noFill/>
        </p:spPr>
        <p:txBody>
          <a:bodyPr wrap="square" rtlCol="0">
            <a:spAutoFit/>
          </a:bodyPr>
          <a:p>
            <a:r>
              <a:rPr lang="zh-CN" altLang="en-US" sz="2400"/>
              <a:t>IQA测评：AGIQA-3K</a:t>
            </a:r>
            <a:endParaRPr lang="zh-CN" altLang="en-US" sz="2400"/>
          </a:p>
        </p:txBody>
      </p:sp>
      <p:pic>
        <p:nvPicPr>
          <p:cNvPr id="6" name="图片 5"/>
          <p:cNvPicPr>
            <a:picLocks noChangeAspect="1"/>
          </p:cNvPicPr>
          <p:nvPr/>
        </p:nvPicPr>
        <p:blipFill>
          <a:blip r:embed="rId2"/>
          <a:stretch>
            <a:fillRect/>
          </a:stretch>
        </p:blipFill>
        <p:spPr>
          <a:xfrm>
            <a:off x="3291205" y="1889125"/>
            <a:ext cx="5609590" cy="676275"/>
          </a:xfrm>
          <a:prstGeom prst="rect">
            <a:avLst/>
          </a:prstGeom>
        </p:spPr>
      </p:pic>
      <p:sp>
        <p:nvSpPr>
          <p:cNvPr id="7" name="矩形 6"/>
          <p:cNvSpPr/>
          <p:nvPr/>
        </p:nvSpPr>
        <p:spPr>
          <a:xfrm>
            <a:off x="8706485" y="5252085"/>
            <a:ext cx="967740" cy="351155"/>
          </a:xfrm>
          <a:prstGeom prst="rect">
            <a:avLst/>
          </a:prstGeom>
          <a:ln w="2857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862</Words>
  <Application>WPS 演示</Application>
  <PresentationFormat>宽屏</PresentationFormat>
  <Paragraphs>34</Paragraphs>
  <Slides>11</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宋体</vt:lpstr>
      <vt:lpstr>Wingdings</vt:lpstr>
      <vt:lpstr>Wingdings</vt:lpstr>
      <vt:lpstr>黑体</vt:lpstr>
      <vt:lpstr>微软雅黑</vt:lpstr>
      <vt:lpstr>Arial Unicode MS</vt:lpstr>
      <vt:lpstr>Calibri</vt:lpstr>
      <vt:lpstr>quote-cjk-patch</vt:lpstr>
      <vt:lpstr>Arial</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 叁</cp:lastModifiedBy>
  <cp:revision>174</cp:revision>
  <dcterms:created xsi:type="dcterms:W3CDTF">2019-06-19T02:08:00Z</dcterms:created>
  <dcterms:modified xsi:type="dcterms:W3CDTF">2026-01-28T08:54:43Z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70DD069CED36493DAEE7FB81E912C93C_11</vt:lpwstr>
  </property>
</Properties>
</file>